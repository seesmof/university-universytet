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Montserrat Bold" panose="020B0604020202020204" charset="-52"/>
      <p:regular r:id="rId27"/>
    </p:embeddedFont>
    <p:embeddedFont>
      <p:font typeface="Montserrat Light" panose="00000400000000000000" pitchFamily="2" charset="-52"/>
      <p:regular r:id="rId28"/>
      <p:italic r:id="rId29"/>
    </p:embeddedFont>
    <p:embeddedFont>
      <p:font typeface="Source Sans 3" panose="020B0604020202020204" charset="0"/>
      <p:regular r:id="rId30"/>
    </p:embeddedFont>
    <p:embeddedFont>
      <p:font typeface="Source Sans 3 Bold" panose="020B0604020202020204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21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615678"/>
            <a:ext cx="4635252" cy="1150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Психологія кар'єри як наука та сучасні тенденції професійного розвитку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68874" y="2968451"/>
            <a:ext cx="509245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Тема 1 · Вступний модуль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68874" y="3322737"/>
            <a:ext cx="1196504" cy="205085"/>
          </a:xfrm>
          <a:prstGeom prst="roundRect">
            <a:avLst>
              <a:gd name="adj" fmla="val 7898"/>
            </a:avLst>
          </a:prstGeom>
          <a:solidFill>
            <a:srgbClr val="E4E4E7"/>
          </a:solidFill>
          <a:ln/>
        </p:spPr>
      </p:sp>
      <p:sp>
        <p:nvSpPr>
          <p:cNvPr id="6" name="Text 3"/>
          <p:cNvSpPr/>
          <p:nvPr/>
        </p:nvSpPr>
        <p:spPr>
          <a:xfrm>
            <a:off x="4049837" y="3363218"/>
            <a:ext cx="149177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ПСИХОЛОГІЯ КАР'ЄРИ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232797" y="3322737"/>
            <a:ext cx="1390724" cy="205085"/>
          </a:xfrm>
          <a:prstGeom prst="roundRect">
            <a:avLst>
              <a:gd name="adj" fmla="val 7898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13759" y="3363218"/>
            <a:ext cx="168599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УНІВЕРСИТЕТСЬКИЙ КУРС</a:t>
            </a:r>
            <a:endParaRPr lang="en-US" sz="8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1CA219-1AD9-430F-8DD8-12BF84649E4C}"/>
              </a:ext>
            </a:extLst>
          </p:cNvPr>
          <p:cNvSpPr txBox="1"/>
          <p:nvPr/>
        </p:nvSpPr>
        <p:spPr>
          <a:xfrm>
            <a:off x="5313759" y="4263959"/>
            <a:ext cx="4572000" cy="716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tabLst>
                <a:tab pos="139700" algn="l"/>
                <a:tab pos="457200" algn="l"/>
              </a:tabLst>
            </a:pPr>
            <a:r>
              <a:rPr lang="uk-UA" sz="1200" dirty="0">
                <a:effectLst/>
              </a:rPr>
              <a:t>КУЗЬМІН ВІКТОР ВОЛОДИМИРОВИЧ, доцент кафедри «Психологія»,</a:t>
            </a:r>
            <a:endParaRPr lang="ru-RU" sz="1200" dirty="0">
              <a:effectLst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139700" algn="l"/>
                <a:tab pos="457200" algn="l"/>
              </a:tabLst>
            </a:pPr>
            <a:r>
              <a:rPr lang="uk-UA" sz="1200" dirty="0">
                <a:effectLst/>
              </a:rPr>
              <a:t>кандидат соціологічних наук, доцент 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64C86D4-2BFE-4543-9276-F1B5D9BD2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685" y="-50562"/>
            <a:ext cx="2289315" cy="166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98029"/>
            <a:ext cx="806425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Зміст теми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9874" y="1143670"/>
            <a:ext cx="8064252" cy="383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Що нас очікує у цьому модулі?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9874" y="1729532"/>
            <a:ext cx="26990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9874" y="1939826"/>
            <a:ext cx="2598093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539874" y="2045345"/>
            <a:ext cx="2598093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1.1 Предмет і завдання психології кар'єри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874" y="2509689"/>
            <a:ext cx="2598093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Що вивчає ця наука і яку практичну цінність вона має для кожного з нас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2879" y="1729532"/>
            <a:ext cx="26990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2879" y="1939826"/>
            <a:ext cx="2598167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3272879" y="2045345"/>
            <a:ext cx="2598167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1.2 Поняття кар'єри у ХХІ столітті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2879" y="2509689"/>
            <a:ext cx="259816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Як змінилось розуміння кар'єрного шляху порівняно з минулим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05959" y="1729532"/>
            <a:ext cx="26990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05959" y="1939826"/>
            <a:ext cx="2598167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6005959" y="2045345"/>
            <a:ext cx="2598167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1.3 Кар'єрні моделі цифрової економіки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05959" y="2509689"/>
            <a:ext cx="259816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Нові форми зайнятості та кар'єрні траєкторії в умовах технологічних змін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874" y="3150766"/>
            <a:ext cx="26990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874" y="3361060"/>
            <a:ext cx="3964632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539874" y="3466579"/>
            <a:ext cx="396463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1.4 Психологічні чинники успіху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874" y="3739232"/>
            <a:ext cx="396463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Внутрішні ресурси особистості, що визначають кар'єрні досягнення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39419" y="3150766"/>
            <a:ext cx="26990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39419" y="3361060"/>
            <a:ext cx="3964707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2" name="Text 20"/>
          <p:cNvSpPr/>
          <p:nvPr/>
        </p:nvSpPr>
        <p:spPr>
          <a:xfrm>
            <a:off x="4639419" y="3466579"/>
            <a:ext cx="396470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1.5 Кар'єра випускників різних факультетів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39419" y="3739232"/>
            <a:ext cx="3964707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Специфіка старту та розвитку кар'єри залежно від спеціальності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1559272"/>
            <a:ext cx="463525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Підтема 1.1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874" y="1804913"/>
            <a:ext cx="4635252" cy="7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Предмет і завдання психології кар'єри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39874" y="2774231"/>
            <a:ext cx="463525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Психологія кар'єри — це галузь психологічної науки, яка вивчає закономірності становлення, розвитку та реалізації людини у професійній сфері. Вона досліджує мотиви вибору професії, механізми кар'єрного зростання, психологічні бар'єри та ресурси успіху.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129159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Ключові завдання психології кар'єри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1705794"/>
            <a:ext cx="3964632" cy="1188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037" y="1859756"/>
            <a:ext cx="358050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Діагностичне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0037" y="2132409"/>
            <a:ext cx="3580507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Вивчення індивідуальних особливостей особистості — здібностей, цінностей, мотивів — для усвідомленого вибору кар'єрного шляху.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419" y="1705794"/>
            <a:ext cx="3964707" cy="11880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9582" y="1859756"/>
            <a:ext cx="35805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📐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Прогностичне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869582" y="2132409"/>
            <a:ext cx="3580581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Розробка науково обґрунтованих моделей кар'єрного розвитку з урахуванням змін ринку праці та технологічного середовища.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874" y="3028727"/>
            <a:ext cx="3964632" cy="9855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0037" y="3182689"/>
            <a:ext cx="358050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Корекційне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70037" y="3455343"/>
            <a:ext cx="358050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Подолання психологічних бар'єрів: невпевненості, страху невдачі, синдрому самозванця та кар'єрної стагнації.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419" y="3028727"/>
            <a:ext cx="3964707" cy="9855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9582" y="3182689"/>
            <a:ext cx="35805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Розвивальне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69582" y="3455343"/>
            <a:ext cx="358058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Формування кар'єрної компетентності, навичок самопрезентації, планування та адаптації до змін.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1559272"/>
            <a:ext cx="463525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Підтема 1.2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9874" y="1804913"/>
            <a:ext cx="4635252" cy="7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Поняття кар'єри у ХХІ столітті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39874" y="2774231"/>
            <a:ext cx="463525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Традиційне розуміння кар'єри як «сходів у одній організації» безповоротно змінилось. Сучасна кар'єра — це динамічний, нелінійний процес, що включає зміну ролей, галузей та навіть країн. Людина сама є архітектором свого професійного шляху.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85043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Еволюція поняття «кар'єра»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39874" y="2581647"/>
            <a:ext cx="8064252" cy="19050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2092449" y="2176797"/>
            <a:ext cx="19050" cy="404887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1950169" y="2429805"/>
            <a:ext cx="303684" cy="30368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2009961" y="2466566"/>
            <a:ext cx="184026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4787" y="1161678"/>
            <a:ext cx="2854598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1950–1980-ті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4787" y="1434331"/>
            <a:ext cx="2854598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Лінійна кар'єра. Одна організація, чітка ієрархія, довічна зайнятість — гарантована стабільність.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39083" y="2581610"/>
            <a:ext cx="19050" cy="404887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3596804" y="2429805"/>
            <a:ext cx="303684" cy="30368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3656595" y="2466566"/>
            <a:ext cx="184026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21347" y="3121521"/>
            <a:ext cx="285467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1990–2000-ті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21347" y="3394174"/>
            <a:ext cx="285467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Протеанська кар'єра (Hall, 1996). Фокус на особистісних цінностях і самореалізації, а не на зовнішніх нагородах.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85643" y="2176797"/>
            <a:ext cx="19050" cy="404887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3364" y="2429805"/>
            <a:ext cx="303684" cy="30368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155" y="2466566"/>
            <a:ext cx="184026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67907" y="1161678"/>
            <a:ext cx="285467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2000–2010-ті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67907" y="1434331"/>
            <a:ext cx="285467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Безмежна кар'єра (Arthur &amp; Rousseau). Перехід між організаціями, накопичення портфоліо досвіду.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32278" y="2581610"/>
            <a:ext cx="19050" cy="404887"/>
          </a:xfrm>
          <a:prstGeom prst="roundRect">
            <a:avLst>
              <a:gd name="adj" fmla="val 106288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889998" y="2429805"/>
            <a:ext cx="303684" cy="30368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790" y="2466566"/>
            <a:ext cx="184026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14541" y="3121521"/>
            <a:ext cx="285467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2020-ті — сьогодні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14541" y="3394174"/>
            <a:ext cx="285467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Калейдоскопічна кар'єра. Гнучкість, множинна ідентичність, поєднання кількох проєктів одночасно.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874" y="4153421"/>
            <a:ext cx="8064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Знання цієї еволюції допомагає зрозуміти, чому сучасні підходи до планування кар'єри суттєво відрізняються від порад попередніх поколінь.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30982"/>
            <a:ext cx="4287069" cy="613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Суб'єктивна та об'єктивна кар'єра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39874" y="1579364"/>
            <a:ext cx="4287069" cy="1133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Об'єктивна кар'єра</a:t>
            </a: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це зовнішньо видимі зміни: посади, зарплати, організації, в яких працює людина. Її легко описати у резюме.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Суб'єктивна кар'єра</a:t>
            </a: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це внутрішнє переживання свого шляху: відчуття сенсу, задоволення, відповідності цінностям. Саме вона визначає психологічне благополуччя.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9874" y="2865016"/>
            <a:ext cx="4287069" cy="715268"/>
          </a:xfrm>
          <a:prstGeom prst="roundRect">
            <a:avLst>
              <a:gd name="adj" fmla="val 2831"/>
            </a:avLst>
          </a:prstGeom>
          <a:solidFill>
            <a:srgbClr val="E4E4E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87" y="3058418"/>
            <a:ext cx="168697" cy="1349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8396" y="3020169"/>
            <a:ext cx="3713634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Успішна кар'єра поєднує обидва виміри — зовнішні досягнення і внутрішню наповненість.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062" y="847874"/>
            <a:ext cx="3447752" cy="3447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660550"/>
            <a:ext cx="463525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Підтема 1.3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968874" y="1906191"/>
            <a:ext cx="4635252" cy="7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Кар'єрні моделі в умовах цифрової економіки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68874" y="2875508"/>
            <a:ext cx="463525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Цифрова трансформація радикально змінює ринок праці: одні професії зникають, інші — виникають. Кар'єра в цих умовах вимагає гнучкості, безперервного навчання та готовності до невизначеності.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196206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домінуючі кар'єрні моделі сьогодення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772841"/>
            <a:ext cx="1493788" cy="923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2864718"/>
            <a:ext cx="257562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Вертикальна кар'єра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39874" y="3137371"/>
            <a:ext cx="2575620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Традиційне просування по ієрархії в межах однієї або кількох організацій. Актуальна у стабільних галузях — державний сектор, фінанси, медицина.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90" y="1772841"/>
            <a:ext cx="1493788" cy="9231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190" y="2864718"/>
            <a:ext cx="257562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Горизонтальна кар'єра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84190" y="3137371"/>
            <a:ext cx="2575620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Розширення компетенцій і зона відповідальності без підвищення у посаді. Поширена серед фахівців у IT, дизайні, маркетингу.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506" y="1772841"/>
            <a:ext cx="1493788" cy="9231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28506" y="2864718"/>
            <a:ext cx="257562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Портфоліо-кар'єра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28506" y="3137371"/>
            <a:ext cx="2575620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Одночасна робота над кількома проєктами, фрілансом, власними ініціативами. Характерна для цифрової економіки і творчих галузей.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410146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Нові форми зайнятості у цифровій економіці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39874" y="1986781"/>
            <a:ext cx="2598093" cy="1746572"/>
          </a:xfrm>
          <a:prstGeom prst="roundRect">
            <a:avLst>
              <a:gd name="adj" fmla="val 1159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74787" y="2121694"/>
            <a:ext cx="232826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Гіг-економіка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4787" y="2394347"/>
            <a:ext cx="2328267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Короткострокові контракти та проєктна зайнятість через цифрові платформи (Upwork, Fiverr, Toptal). Вже охоплює понад 15% зайнятих у країнах ЄС.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72879" y="1986781"/>
            <a:ext cx="2598167" cy="1746572"/>
          </a:xfrm>
          <a:prstGeom prst="roundRect">
            <a:avLst>
              <a:gd name="adj" fmla="val 115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407792" y="2121694"/>
            <a:ext cx="2328342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Людино-машинна співпраця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07792" y="2586038"/>
            <a:ext cx="2328342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Нові ролі виникають на перетині людських і штучних компетенцій. Фахівці, які вміють працювати з ШІ-інструментами, мають суттєві конкурентні переваги.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05959" y="1986781"/>
            <a:ext cx="2598167" cy="1746572"/>
          </a:xfrm>
          <a:prstGeom prst="roundRect">
            <a:avLst>
              <a:gd name="adj" fmla="val 1159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140872" y="2121694"/>
            <a:ext cx="232834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Lifelong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0872" y="2394347"/>
            <a:ext cx="2328342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Безперервна освіта стає нормою: мікрокредентивали, онлайн-курси, корпоративне навчання замінюють одноразовий університетський диплом як головний кар'єрний актив.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660550"/>
            <a:ext cx="463525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Підтема 1.4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968874" y="1906191"/>
            <a:ext cx="4635252" cy="7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Психологічні чинники професійного успіху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68874" y="2875508"/>
            <a:ext cx="463525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Технічні знання — лише частина рівняння. Психологічні характеристики особистості нерідко відіграють вирішальну роль у тому, як розвивається кар'єра і чи приносить вона справжнє задоволення.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268388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Внутрішні ресурси кар'єрного успіху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1845022"/>
            <a:ext cx="337393" cy="3373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964" y="1845022"/>
            <a:ext cx="344165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Кар'єрна самоефективність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45964" y="2117675"/>
            <a:ext cx="3441650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Впевненість у здатності виконувати професійні завдання та долати труднощі. За А. Бандурою — один із головних предикторів кар'єрних досягнень.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311" y="1845022"/>
            <a:ext cx="337393" cy="3373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2401" y="1845022"/>
            <a:ext cx="344172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Кар'єрна ідентичність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162401" y="2117675"/>
            <a:ext cx="3441725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Чітке розуміння своїх цінностей, сильних сторін і бажаного напряму розвитку. Основа усвідомленого кар'єрного вибору.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874" y="2995017"/>
            <a:ext cx="337393" cy="3373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5964" y="2995017"/>
            <a:ext cx="344165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Психологічна резильєнтність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45964" y="3267670"/>
            <a:ext cx="3441650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Здатність адаптуватись після невдач, стресів та кар'єрних криз. Розвивається через рефлексію і досвід подолання труднощів.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56311" y="2995017"/>
            <a:ext cx="337393" cy="3373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62401" y="2995017"/>
            <a:ext cx="344172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Соціальний капітал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162401" y="3267670"/>
            <a:ext cx="3441725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Якість та широта професійної мережі. Дослідження Грановеттера показують: більшість нових можливостей приходить через «слабкі зв'язки».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371177"/>
            <a:ext cx="8064252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Модель психологічного капіталу (PsyCap)</a:t>
            </a:r>
            <a:endParaRPr lang="en-US" sz="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591964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4744715"/>
            <a:ext cx="8521452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Модель PsyCap (Luthans et al., 2007) демонструє, що психологічний капітал — це не вроджена риса, а навичка, яку можна цілеспрямовано розвивати через коучинг, рефлексію та практичний досвід.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2615" y="436364"/>
            <a:ext cx="4061966" cy="4270697"/>
          </a:xfrm>
          <a:prstGeom prst="roundRect">
            <a:avLst>
              <a:gd name="adj" fmla="val 498"/>
            </a:avLst>
          </a:prstGeom>
          <a:solidFill>
            <a:srgbClr val="2D2E34"/>
          </a:solidFill>
          <a:ln/>
        </p:spPr>
      </p:sp>
      <p:sp>
        <p:nvSpPr>
          <p:cNvPr id="3" name="Text 1"/>
          <p:cNvSpPr/>
          <p:nvPr/>
        </p:nvSpPr>
        <p:spPr>
          <a:xfrm>
            <a:off x="577528" y="571277"/>
            <a:ext cx="3792141" cy="613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Емоційний інтелект і кар'єра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77528" y="1319659"/>
            <a:ext cx="3792141" cy="1133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Дослідження TalentSmart виявили, що </a:t>
            </a:r>
            <a:r>
              <a:rPr lang="en-US" sz="10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емоційний інтелект (EQ) пояснює 58% ефективності</a:t>
            </a: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у більшості професій. Керівники з високим EQ демонструють кращі результати у 90% випадків.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Ключові компоненти EQ для кар'єри: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7528" y="2574950"/>
            <a:ext cx="3792141" cy="95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Самоусвідомлення власних емоцій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Саморегуляція у стресових ситуаціях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Емпатія у взаємодії з колегами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Соціальні навички та вплив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441" y="571277"/>
            <a:ext cx="3867448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Мотиваційні чинники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741441" y="1012924"/>
            <a:ext cx="3867448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 теорією самодетермінації (Deci &amp; Ryan), стійка кар'єрна мотивація базується на трьох базових потребах: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1441" y="1569690"/>
            <a:ext cx="1866230" cy="1627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93519" y="1670893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95404" y="2109490"/>
            <a:ext cx="155830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Автономія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5404" y="2436093"/>
            <a:ext cx="1558305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Відчуття вибору та контролю над своєю роботою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2584" y="1569690"/>
            <a:ext cx="1866305" cy="16278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94736" y="1670893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896546" y="2109490"/>
            <a:ext cx="1558379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Компетентність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896546" y="2436093"/>
            <a:ext cx="1558379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Зростання і майстерність у значущих завданнях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1441" y="3332411"/>
            <a:ext cx="3867448" cy="12228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94165" y="3433614"/>
            <a:ext cx="16192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895404" y="3872210"/>
            <a:ext cx="355952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Зв'язок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95404" y="4198813"/>
            <a:ext cx="355952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Приналежність до спільноти та значущі стосунки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468785"/>
            <a:ext cx="4635252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Підтема 1.5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968874" y="1714426"/>
            <a:ext cx="4635252" cy="1150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Особливості кар'єри випускників різних факультетів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68874" y="3067199"/>
            <a:ext cx="463525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Факультет формує не лише знання, а й специфічну кар'єрну ідентичність, очікування та траєкторію. Усвідомлення цих особливостей допомагає реалістично планувати перші кроки після університету.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870421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Кар'єрні траєкторії за напрямами підготовки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39874" y="1447056"/>
            <a:ext cx="3964632" cy="1446758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74787" y="1581969"/>
            <a:ext cx="369480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Технічні спеціальності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4787" y="1854622"/>
            <a:ext cx="3694807" cy="90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Високий попит і швидке зростання доходів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Ризик «технічного тунелю» — вузька спеціалізація без soft skills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Портфоліо важливіше за диплом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39419" y="1447056"/>
            <a:ext cx="3964707" cy="1446758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74332" y="1581969"/>
            <a:ext cx="36948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Гуманітарні спеціальності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74332" y="1854622"/>
            <a:ext cx="3694881" cy="701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Ширший спектр можливих траєкторій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Сильні комунікативні та аналітичні компетенції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Важливість додаткових кваліфікацій і нетворкінгу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9874" y="3028727"/>
            <a:ext cx="3964632" cy="1244278"/>
          </a:xfrm>
          <a:prstGeom prst="roundRect">
            <a:avLst>
              <a:gd name="adj" fmla="val 162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74787" y="3163639"/>
            <a:ext cx="369480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⚕️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Медицина та природничі науки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4787" y="3436293"/>
            <a:ext cx="3694807" cy="701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Чітка регульована траєкторія (інтернатура, ліцензування)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Висока інституційна залежність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Зростаючий попит на трансдисциплінарні компетенції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39419" y="3028727"/>
            <a:ext cx="3964707" cy="1244278"/>
          </a:xfrm>
          <a:prstGeom prst="roundRect">
            <a:avLst>
              <a:gd name="adj" fmla="val 162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74332" y="3163639"/>
            <a:ext cx="36948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Економіка та управління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4332" y="3436293"/>
            <a:ext cx="3694881" cy="701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Висока конкуренція на ринку праці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Значення практичного досвіду під час навчання</a:t>
            </a:r>
            <a:endParaRPr lang="en-US" sz="1050" dirty="0"/>
          </a:p>
          <a:p>
            <a:pPr marL="213360" indent="-213360" algn="l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Сертифікації (CFA, ACCA) як диференціатор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1324794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Спільні виклики для всіх випускників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39874" y="1901428"/>
            <a:ext cx="303684" cy="30368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78471" y="1947788"/>
            <a:ext cx="2137023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Розрив між очікуваннями та реальністю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8471" y="2603822"/>
            <a:ext cx="2137023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Багато випускників переоцінюють початкову зарплату і недооцінюють час, потрібний для входження в професію. Реалістичне очікування знижує розчарування першого року роботи.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84190" y="1901428"/>
            <a:ext cx="303684" cy="30368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722787" y="1947788"/>
            <a:ext cx="2137023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Синдром «першої роботи»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22787" y="2412132"/>
            <a:ext cx="2137023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Тиск обрати «правильну» першу посаду паралізує рішення. Насправді перша робота рідко визначає всю кар'єру — важливий досвід і рефлексія над ним.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28506" y="1901428"/>
            <a:ext cx="303684" cy="30368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467103" y="1947788"/>
            <a:ext cx="2137023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Недостатня кар'єрна компетентність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7103" y="2412132"/>
            <a:ext cx="2137023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Вміння шукати роботу, проходити співбесіди, вибудовувати особистий бренд і мережу контактів — навички, яким університет рідко приділяє достатньо уваги.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09947"/>
            <a:ext cx="8064252" cy="20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Статистика кар'єрного старту в Україні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1150590" y="1365349"/>
            <a:ext cx="111546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47%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179" y="798612"/>
            <a:ext cx="1360363" cy="13603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874" y="2242468"/>
            <a:ext cx="2336974" cy="128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за спеціальністю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39874" y="2432149"/>
            <a:ext cx="2336974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Частка українських випускників, що працюють не за фахом протягом перших двох років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563689" y="1365349"/>
            <a:ext cx="111546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68%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278" y="798612"/>
            <a:ext cx="1360363" cy="13603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52973" y="2242468"/>
            <a:ext cx="2336974" cy="128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Важливість практики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952973" y="2432149"/>
            <a:ext cx="2336974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Роботодавців, які вважають практичний досвід важливішим за оцінки в дипломі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2357140" y="3370734"/>
            <a:ext cx="1115467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3–5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729" y="2803996"/>
            <a:ext cx="1360363" cy="13603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46424" y="4247852"/>
            <a:ext cx="2336974" cy="128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Місяців пошуку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746424" y="4437534"/>
            <a:ext cx="2336974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Середній термін пошуку першої роботи для випускника в Україні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515868" y="768325"/>
            <a:ext cx="3092946" cy="128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Що це означає для вас?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515868" y="958007"/>
            <a:ext cx="3092946" cy="34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Ці цифри — не привід для тривоги, а орієнтири для підготовки. Починайте будувати мережу контактів, шукайте стажування та розвивайте кар'єрну компетентність ще під час навчання.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5515868" y="1367656"/>
            <a:ext cx="3092946" cy="382191"/>
          </a:xfrm>
          <a:prstGeom prst="roundRect">
            <a:avLst>
              <a:gd name="adj" fmla="val 3560"/>
            </a:avLst>
          </a:prstGeom>
          <a:solidFill>
            <a:srgbClr val="E4E4E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504" y="1482551"/>
            <a:ext cx="113333" cy="906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10473" y="1445047"/>
            <a:ext cx="2707704" cy="227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Кар'єра — це марафон, а не спринт. Стартова позиція важлива, але не вирішальна.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661243"/>
            <a:ext cx="8064252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Практична цінність курсу: що ви отримаєте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42280" y="1575271"/>
            <a:ext cx="3762152" cy="134913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539874" y="1440247"/>
            <a:ext cx="404887" cy="404887"/>
          </a:xfrm>
          <a:prstGeom prst="ellipse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077" y="1541450"/>
            <a:ext cx="202406" cy="202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4787" y="1980084"/>
            <a:ext cx="369480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Самопізнання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4787" y="2252737"/>
            <a:ext cx="369480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Діагностика власних цінностей, мотивів і кар'єрних якорів для усвідомленого вибору шляху.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1825" y="1372865"/>
            <a:ext cx="3762226" cy="134913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4639419" y="1237841"/>
            <a:ext cx="404887" cy="404887"/>
          </a:xfrm>
          <a:prstGeom prst="ellipse">
            <a:avLst/>
          </a:prstGeom>
          <a:solidFill>
            <a:srgbClr val="F2EEE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0622" y="1339044"/>
            <a:ext cx="202406" cy="2024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74332" y="1777678"/>
            <a:ext cx="36948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Планування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74332" y="2050331"/>
            <a:ext cx="369488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Практичні інструменти для побудови кар'єрного плану з урахуванням реалій ринку праці.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42280" y="3264917"/>
            <a:ext cx="3762152" cy="134913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539874" y="3129893"/>
            <a:ext cx="404887" cy="404887"/>
          </a:xfrm>
          <a:prstGeom prst="ellipse">
            <a:avLst/>
          </a:prstGeom>
          <a:solidFill>
            <a:srgbClr val="F2EEE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077" y="3231096"/>
            <a:ext cx="202406" cy="2024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4787" y="3669729"/>
            <a:ext cx="369480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Стійкість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74787" y="3942383"/>
            <a:ext cx="369480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Психологічні техніки для подолання невдач, управління стресом і підтримання мотивації.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41825" y="3062511"/>
            <a:ext cx="3762226" cy="134913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4639419" y="2927486"/>
            <a:ext cx="404887" cy="404887"/>
          </a:xfrm>
          <a:prstGeom prst="ellipse">
            <a:avLst/>
          </a:prstGeom>
          <a:solidFill>
            <a:srgbClr val="F2EEE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0622" y="3028690"/>
            <a:ext cx="202406" cy="2024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74332" y="3467323"/>
            <a:ext cx="36948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Нетворкінг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74332" y="3739976"/>
            <a:ext cx="369488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Розуміння соціального капіталу і стратегії побудови ефективних професійних зв'язків.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388888"/>
            <a:ext cx="4635252" cy="377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Висновки до Теми 1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8874" y="962471"/>
            <a:ext cx="4635252" cy="9569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73141" y="1109588"/>
            <a:ext cx="4283869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Психологія кар'єри — прикладна наука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73141" y="1376735"/>
            <a:ext cx="4283869" cy="395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Вона озброює конкретними інструментами для діагностики, планування та розвитку у професійній сфері.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8874" y="2050182"/>
            <a:ext cx="4635252" cy="9569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73141" y="2197298"/>
            <a:ext cx="4283869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Кар'єра ХХІ ст. — нелінійна і керована вами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73141" y="2464445"/>
            <a:ext cx="4283869" cy="395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Відмова від ілюзії «єдиного правильного шляху» відкриває простір для творчого та свідомого проєктування свого майбутнього.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8874" y="3137892"/>
            <a:ext cx="4635252" cy="9569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73141" y="3285009"/>
            <a:ext cx="4283869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Психологічні ресурси — ваш головний актив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73141" y="3552155"/>
            <a:ext cx="4283869" cy="395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Самоефективність, резильєнтність, EQ та соціальний капітал можна і потрібно розвивати — це інвестиція з найвищою віддачею.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3968874" y="4241974"/>
            <a:ext cx="4635252" cy="512564"/>
          </a:xfrm>
          <a:prstGeom prst="roundRect">
            <a:avLst>
              <a:gd name="adj" fmla="val 3889"/>
            </a:avLst>
          </a:prstGeom>
          <a:solidFill>
            <a:srgbClr val="E4E4E7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1703" y="4425107"/>
            <a:ext cx="166092" cy="13282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00624" y="4405908"/>
            <a:ext cx="4527872" cy="1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Наступна тема: Методи кар'єрної діагностики та самопізнання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PresentationFormat>Экран (16:9)</PresentationFormat>
  <Paragraphs>182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Source Sans 3</vt:lpstr>
      <vt:lpstr>Montserrat Bold</vt:lpstr>
      <vt:lpstr>Source Sans 3 Bold</vt:lpstr>
      <vt:lpstr>Twemoji Mozilla</vt:lpstr>
      <vt:lpstr>Calibri</vt:lpstr>
      <vt:lpstr>Montserrat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Пользователь</cp:lastModifiedBy>
  <cp:revision>2</cp:revision>
  <dcterms:created xsi:type="dcterms:W3CDTF">2026-07-10T09:04:20Z</dcterms:created>
  <dcterms:modified xsi:type="dcterms:W3CDTF">2026-07-10T09:17:51Z</dcterms:modified>
</cp:coreProperties>
</file>